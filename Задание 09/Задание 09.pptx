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7" r:id="rId17"/>
    <p:sldId id="271" r:id="rId18"/>
    <p:sldId id="272" r:id="rId19"/>
    <p:sldId id="273" r:id="rId20"/>
    <p:sldId id="274" r:id="rId21"/>
    <p:sldId id="275" r:id="rId22"/>
    <p:sldId id="276" r:id="rId2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3224D6-6411-4432-B73B-C8A998E6BB90}"/>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94D74D75-FCEB-412C-AA91-C8E67DED1E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9AB8C191-D03D-4A49-A57B-151B0A598FE9}"/>
              </a:ext>
            </a:extLst>
          </p:cNvPr>
          <p:cNvSpPr>
            <a:spLocks noGrp="1"/>
          </p:cNvSpPr>
          <p:nvPr>
            <p:ph type="dt" sz="half" idx="10"/>
          </p:nvPr>
        </p:nvSpPr>
        <p:spPr/>
        <p:txBody>
          <a:bodyPr/>
          <a:lstStyle/>
          <a:p>
            <a:fld id="{F9E3C431-7170-4F53-8FCC-EE73109E6774}" type="datetimeFigureOut">
              <a:rPr lang="ru-RU" smtClean="0"/>
              <a:t>06.12.2025</a:t>
            </a:fld>
            <a:endParaRPr lang="ru-RU"/>
          </a:p>
        </p:txBody>
      </p:sp>
      <p:sp>
        <p:nvSpPr>
          <p:cNvPr id="5" name="Нижний колонтитул 4">
            <a:extLst>
              <a:ext uri="{FF2B5EF4-FFF2-40B4-BE49-F238E27FC236}">
                <a16:creationId xmlns:a16="http://schemas.microsoft.com/office/drawing/2014/main" id="{4EB29425-503B-4A13-9086-5D2E31A5CAF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0F699F0-A151-46E8-BC79-1624A0D0B52E}"/>
              </a:ext>
            </a:extLst>
          </p:cNvPr>
          <p:cNvSpPr>
            <a:spLocks noGrp="1"/>
          </p:cNvSpPr>
          <p:nvPr>
            <p:ph type="sldNum" sz="quarter" idx="12"/>
          </p:nvPr>
        </p:nvSpPr>
        <p:spPr/>
        <p:txBody>
          <a:bodyPr/>
          <a:lstStyle/>
          <a:p>
            <a:fld id="{87152449-351A-4DCD-94D3-747C7C549C1A}" type="slidenum">
              <a:rPr lang="ru-RU" smtClean="0"/>
              <a:t>‹#›</a:t>
            </a:fld>
            <a:endParaRPr lang="ru-RU"/>
          </a:p>
        </p:txBody>
      </p:sp>
    </p:spTree>
    <p:extLst>
      <p:ext uri="{BB962C8B-B14F-4D97-AF65-F5344CB8AC3E}">
        <p14:creationId xmlns:p14="http://schemas.microsoft.com/office/powerpoint/2010/main" val="395060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3B086A-DB64-43CB-8E52-552E600E958C}"/>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A309CDC3-E3F6-4E2A-82F8-BCEC5726E3B8}"/>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5F9D002-14EA-4114-A8D8-87FCFD8EA17E}"/>
              </a:ext>
            </a:extLst>
          </p:cNvPr>
          <p:cNvSpPr>
            <a:spLocks noGrp="1"/>
          </p:cNvSpPr>
          <p:nvPr>
            <p:ph type="dt" sz="half" idx="10"/>
          </p:nvPr>
        </p:nvSpPr>
        <p:spPr/>
        <p:txBody>
          <a:bodyPr/>
          <a:lstStyle/>
          <a:p>
            <a:fld id="{F9E3C431-7170-4F53-8FCC-EE73109E6774}" type="datetimeFigureOut">
              <a:rPr lang="ru-RU" smtClean="0"/>
              <a:t>06.12.2025</a:t>
            </a:fld>
            <a:endParaRPr lang="ru-RU"/>
          </a:p>
        </p:txBody>
      </p:sp>
      <p:sp>
        <p:nvSpPr>
          <p:cNvPr id="5" name="Нижний колонтитул 4">
            <a:extLst>
              <a:ext uri="{FF2B5EF4-FFF2-40B4-BE49-F238E27FC236}">
                <a16:creationId xmlns:a16="http://schemas.microsoft.com/office/drawing/2014/main" id="{6B941DC4-AC09-40B4-A45F-DF9622236AD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F13BB24-B94C-4BC4-A41F-08989EC59E94}"/>
              </a:ext>
            </a:extLst>
          </p:cNvPr>
          <p:cNvSpPr>
            <a:spLocks noGrp="1"/>
          </p:cNvSpPr>
          <p:nvPr>
            <p:ph type="sldNum" sz="quarter" idx="12"/>
          </p:nvPr>
        </p:nvSpPr>
        <p:spPr/>
        <p:txBody>
          <a:bodyPr/>
          <a:lstStyle/>
          <a:p>
            <a:fld id="{87152449-351A-4DCD-94D3-747C7C549C1A}" type="slidenum">
              <a:rPr lang="ru-RU" smtClean="0"/>
              <a:t>‹#›</a:t>
            </a:fld>
            <a:endParaRPr lang="ru-RU"/>
          </a:p>
        </p:txBody>
      </p:sp>
    </p:spTree>
    <p:extLst>
      <p:ext uri="{BB962C8B-B14F-4D97-AF65-F5344CB8AC3E}">
        <p14:creationId xmlns:p14="http://schemas.microsoft.com/office/powerpoint/2010/main" val="2964418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11705C-57D9-4A05-8A8D-BEB719FAACF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84EFFC5B-C021-4D72-8332-3C8B9DD3A5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AE972AD3-3EB4-4CD3-8B46-8772FA54AB33}"/>
              </a:ext>
            </a:extLst>
          </p:cNvPr>
          <p:cNvSpPr>
            <a:spLocks noGrp="1"/>
          </p:cNvSpPr>
          <p:nvPr>
            <p:ph type="dt" sz="half" idx="10"/>
          </p:nvPr>
        </p:nvSpPr>
        <p:spPr/>
        <p:txBody>
          <a:bodyPr/>
          <a:lstStyle/>
          <a:p>
            <a:fld id="{F9E3C431-7170-4F53-8FCC-EE73109E6774}" type="datetimeFigureOut">
              <a:rPr lang="ru-RU" smtClean="0"/>
              <a:t>06.12.2025</a:t>
            </a:fld>
            <a:endParaRPr lang="ru-RU"/>
          </a:p>
        </p:txBody>
      </p:sp>
      <p:sp>
        <p:nvSpPr>
          <p:cNvPr id="5" name="Нижний колонтитул 4">
            <a:extLst>
              <a:ext uri="{FF2B5EF4-FFF2-40B4-BE49-F238E27FC236}">
                <a16:creationId xmlns:a16="http://schemas.microsoft.com/office/drawing/2014/main" id="{16BB725D-B8B9-419B-9C8F-C379AC500DC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622D0CF-3596-462A-856A-740E154FA536}"/>
              </a:ext>
            </a:extLst>
          </p:cNvPr>
          <p:cNvSpPr>
            <a:spLocks noGrp="1"/>
          </p:cNvSpPr>
          <p:nvPr>
            <p:ph type="sldNum" sz="quarter" idx="12"/>
          </p:nvPr>
        </p:nvSpPr>
        <p:spPr/>
        <p:txBody>
          <a:bodyPr/>
          <a:lstStyle/>
          <a:p>
            <a:fld id="{87152449-351A-4DCD-94D3-747C7C549C1A}" type="slidenum">
              <a:rPr lang="ru-RU" smtClean="0"/>
              <a:t>‹#›</a:t>
            </a:fld>
            <a:endParaRPr lang="ru-RU"/>
          </a:p>
        </p:txBody>
      </p:sp>
    </p:spTree>
    <p:extLst>
      <p:ext uri="{BB962C8B-B14F-4D97-AF65-F5344CB8AC3E}">
        <p14:creationId xmlns:p14="http://schemas.microsoft.com/office/powerpoint/2010/main" val="632155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4673E0-09BE-49B5-86F2-4FF67AFD1A29}"/>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45042F4F-F870-4ED8-840B-504EDE069EDB}"/>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3B156EB8-A2B8-4179-A2A0-D20D656065F0}"/>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67862FC3-8BD0-4B5D-9575-0B54EBCFA980}"/>
              </a:ext>
            </a:extLst>
          </p:cNvPr>
          <p:cNvSpPr>
            <a:spLocks noGrp="1"/>
          </p:cNvSpPr>
          <p:nvPr>
            <p:ph type="dt" sz="half" idx="10"/>
          </p:nvPr>
        </p:nvSpPr>
        <p:spPr/>
        <p:txBody>
          <a:bodyPr/>
          <a:lstStyle/>
          <a:p>
            <a:fld id="{F9E3C431-7170-4F53-8FCC-EE73109E6774}" type="datetimeFigureOut">
              <a:rPr lang="ru-RU" smtClean="0"/>
              <a:t>06.12.2025</a:t>
            </a:fld>
            <a:endParaRPr lang="ru-RU"/>
          </a:p>
        </p:txBody>
      </p:sp>
      <p:sp>
        <p:nvSpPr>
          <p:cNvPr id="6" name="Нижний колонтитул 5">
            <a:extLst>
              <a:ext uri="{FF2B5EF4-FFF2-40B4-BE49-F238E27FC236}">
                <a16:creationId xmlns:a16="http://schemas.microsoft.com/office/drawing/2014/main" id="{2C018E6E-35CB-4F80-A105-DE2E6C7DDA80}"/>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0127CEF-FBED-4A11-8592-AFC68F461E93}"/>
              </a:ext>
            </a:extLst>
          </p:cNvPr>
          <p:cNvSpPr>
            <a:spLocks noGrp="1"/>
          </p:cNvSpPr>
          <p:nvPr>
            <p:ph type="sldNum" sz="quarter" idx="12"/>
          </p:nvPr>
        </p:nvSpPr>
        <p:spPr/>
        <p:txBody>
          <a:bodyPr/>
          <a:lstStyle/>
          <a:p>
            <a:fld id="{87152449-351A-4DCD-94D3-747C7C549C1A}" type="slidenum">
              <a:rPr lang="ru-RU" smtClean="0"/>
              <a:t>‹#›</a:t>
            </a:fld>
            <a:endParaRPr lang="ru-RU"/>
          </a:p>
        </p:txBody>
      </p:sp>
    </p:spTree>
    <p:extLst>
      <p:ext uri="{BB962C8B-B14F-4D97-AF65-F5344CB8AC3E}">
        <p14:creationId xmlns:p14="http://schemas.microsoft.com/office/powerpoint/2010/main" val="2755841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F8E360-7616-4D37-AE8F-6EC5A62F8077}"/>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B43771B5-9FB4-4A74-9A92-C2B7538297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4AF288EC-24AE-4069-AC87-35B2FBF297C5}"/>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6EFF18BC-D738-4360-A98C-405E6B6BFB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25AB0281-E5F3-49EC-B294-2089B4121210}"/>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C1868E42-A1BA-4FC0-9476-7A2A48370D9F}"/>
              </a:ext>
            </a:extLst>
          </p:cNvPr>
          <p:cNvSpPr>
            <a:spLocks noGrp="1"/>
          </p:cNvSpPr>
          <p:nvPr>
            <p:ph type="dt" sz="half" idx="10"/>
          </p:nvPr>
        </p:nvSpPr>
        <p:spPr/>
        <p:txBody>
          <a:bodyPr/>
          <a:lstStyle/>
          <a:p>
            <a:fld id="{F9E3C431-7170-4F53-8FCC-EE73109E6774}" type="datetimeFigureOut">
              <a:rPr lang="ru-RU" smtClean="0"/>
              <a:t>06.12.2025</a:t>
            </a:fld>
            <a:endParaRPr lang="ru-RU"/>
          </a:p>
        </p:txBody>
      </p:sp>
      <p:sp>
        <p:nvSpPr>
          <p:cNvPr id="8" name="Нижний колонтитул 7">
            <a:extLst>
              <a:ext uri="{FF2B5EF4-FFF2-40B4-BE49-F238E27FC236}">
                <a16:creationId xmlns:a16="http://schemas.microsoft.com/office/drawing/2014/main" id="{5E84392A-4347-4C3D-A0CD-80B59E8366C8}"/>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E1BBAD82-C720-4E93-B16E-5EBD19ABA4DA}"/>
              </a:ext>
            </a:extLst>
          </p:cNvPr>
          <p:cNvSpPr>
            <a:spLocks noGrp="1"/>
          </p:cNvSpPr>
          <p:nvPr>
            <p:ph type="sldNum" sz="quarter" idx="12"/>
          </p:nvPr>
        </p:nvSpPr>
        <p:spPr/>
        <p:txBody>
          <a:bodyPr/>
          <a:lstStyle/>
          <a:p>
            <a:fld id="{87152449-351A-4DCD-94D3-747C7C549C1A}" type="slidenum">
              <a:rPr lang="ru-RU" smtClean="0"/>
              <a:t>‹#›</a:t>
            </a:fld>
            <a:endParaRPr lang="ru-RU"/>
          </a:p>
        </p:txBody>
      </p:sp>
    </p:spTree>
    <p:extLst>
      <p:ext uri="{BB962C8B-B14F-4D97-AF65-F5344CB8AC3E}">
        <p14:creationId xmlns:p14="http://schemas.microsoft.com/office/powerpoint/2010/main" val="1704420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9188FD-5F68-4653-BFDC-DB6F2AAC916D}"/>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27B0F7CE-0A36-418D-AE89-CB6DF42257DF}"/>
              </a:ext>
            </a:extLst>
          </p:cNvPr>
          <p:cNvSpPr>
            <a:spLocks noGrp="1"/>
          </p:cNvSpPr>
          <p:nvPr>
            <p:ph type="dt" sz="half" idx="10"/>
          </p:nvPr>
        </p:nvSpPr>
        <p:spPr/>
        <p:txBody>
          <a:bodyPr/>
          <a:lstStyle/>
          <a:p>
            <a:fld id="{F9E3C431-7170-4F53-8FCC-EE73109E6774}" type="datetimeFigureOut">
              <a:rPr lang="ru-RU" smtClean="0"/>
              <a:t>06.12.2025</a:t>
            </a:fld>
            <a:endParaRPr lang="ru-RU"/>
          </a:p>
        </p:txBody>
      </p:sp>
      <p:sp>
        <p:nvSpPr>
          <p:cNvPr id="4" name="Нижний колонтитул 3">
            <a:extLst>
              <a:ext uri="{FF2B5EF4-FFF2-40B4-BE49-F238E27FC236}">
                <a16:creationId xmlns:a16="http://schemas.microsoft.com/office/drawing/2014/main" id="{70FFCDCF-6772-460D-AC7B-C434D897F10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919F4C60-75E1-429C-A932-D61108FD46F0}"/>
              </a:ext>
            </a:extLst>
          </p:cNvPr>
          <p:cNvSpPr>
            <a:spLocks noGrp="1"/>
          </p:cNvSpPr>
          <p:nvPr>
            <p:ph type="sldNum" sz="quarter" idx="12"/>
          </p:nvPr>
        </p:nvSpPr>
        <p:spPr/>
        <p:txBody>
          <a:bodyPr/>
          <a:lstStyle/>
          <a:p>
            <a:fld id="{87152449-351A-4DCD-94D3-747C7C549C1A}" type="slidenum">
              <a:rPr lang="ru-RU" smtClean="0"/>
              <a:t>‹#›</a:t>
            </a:fld>
            <a:endParaRPr lang="ru-RU"/>
          </a:p>
        </p:txBody>
      </p:sp>
    </p:spTree>
    <p:extLst>
      <p:ext uri="{BB962C8B-B14F-4D97-AF65-F5344CB8AC3E}">
        <p14:creationId xmlns:p14="http://schemas.microsoft.com/office/powerpoint/2010/main" val="4106830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C790CFF-B5C9-484E-BFB2-8C845927AAD9}"/>
              </a:ext>
            </a:extLst>
          </p:cNvPr>
          <p:cNvSpPr>
            <a:spLocks noGrp="1"/>
          </p:cNvSpPr>
          <p:nvPr>
            <p:ph type="dt" sz="half" idx="10"/>
          </p:nvPr>
        </p:nvSpPr>
        <p:spPr/>
        <p:txBody>
          <a:bodyPr/>
          <a:lstStyle/>
          <a:p>
            <a:fld id="{F9E3C431-7170-4F53-8FCC-EE73109E6774}" type="datetimeFigureOut">
              <a:rPr lang="ru-RU" smtClean="0"/>
              <a:t>06.12.2025</a:t>
            </a:fld>
            <a:endParaRPr lang="ru-RU"/>
          </a:p>
        </p:txBody>
      </p:sp>
      <p:sp>
        <p:nvSpPr>
          <p:cNvPr id="3" name="Нижний колонтитул 2">
            <a:extLst>
              <a:ext uri="{FF2B5EF4-FFF2-40B4-BE49-F238E27FC236}">
                <a16:creationId xmlns:a16="http://schemas.microsoft.com/office/drawing/2014/main" id="{48AB3DF4-E579-492E-B270-D6F8482A3528}"/>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75FD9CD4-7698-492C-9628-CB344C768706}"/>
              </a:ext>
            </a:extLst>
          </p:cNvPr>
          <p:cNvSpPr>
            <a:spLocks noGrp="1"/>
          </p:cNvSpPr>
          <p:nvPr>
            <p:ph type="sldNum" sz="quarter" idx="12"/>
          </p:nvPr>
        </p:nvSpPr>
        <p:spPr/>
        <p:txBody>
          <a:bodyPr/>
          <a:lstStyle/>
          <a:p>
            <a:fld id="{87152449-351A-4DCD-94D3-747C7C549C1A}" type="slidenum">
              <a:rPr lang="ru-RU" smtClean="0"/>
              <a:t>‹#›</a:t>
            </a:fld>
            <a:endParaRPr lang="ru-RU"/>
          </a:p>
        </p:txBody>
      </p:sp>
    </p:spTree>
    <p:extLst>
      <p:ext uri="{BB962C8B-B14F-4D97-AF65-F5344CB8AC3E}">
        <p14:creationId xmlns:p14="http://schemas.microsoft.com/office/powerpoint/2010/main" val="2631210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8F71B6-F2C4-40A7-82CF-E3BFC134F6A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AD7B7D53-7059-4F4A-AA40-C5A9A590BA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66D6D095-3E5E-4EE6-B480-A662B3C437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C90D262-2BFD-4993-B953-E7ED9C2D0DD7}"/>
              </a:ext>
            </a:extLst>
          </p:cNvPr>
          <p:cNvSpPr>
            <a:spLocks noGrp="1"/>
          </p:cNvSpPr>
          <p:nvPr>
            <p:ph type="dt" sz="half" idx="10"/>
          </p:nvPr>
        </p:nvSpPr>
        <p:spPr/>
        <p:txBody>
          <a:bodyPr/>
          <a:lstStyle/>
          <a:p>
            <a:fld id="{F9E3C431-7170-4F53-8FCC-EE73109E6774}" type="datetimeFigureOut">
              <a:rPr lang="ru-RU" smtClean="0"/>
              <a:t>06.12.2025</a:t>
            </a:fld>
            <a:endParaRPr lang="ru-RU"/>
          </a:p>
        </p:txBody>
      </p:sp>
      <p:sp>
        <p:nvSpPr>
          <p:cNvPr id="6" name="Нижний колонтитул 5">
            <a:extLst>
              <a:ext uri="{FF2B5EF4-FFF2-40B4-BE49-F238E27FC236}">
                <a16:creationId xmlns:a16="http://schemas.microsoft.com/office/drawing/2014/main" id="{ADFFFE68-1BFA-477F-89A0-53736FA7FFC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B50A71B-0063-453B-ADD9-20D906DA8389}"/>
              </a:ext>
            </a:extLst>
          </p:cNvPr>
          <p:cNvSpPr>
            <a:spLocks noGrp="1"/>
          </p:cNvSpPr>
          <p:nvPr>
            <p:ph type="sldNum" sz="quarter" idx="12"/>
          </p:nvPr>
        </p:nvSpPr>
        <p:spPr/>
        <p:txBody>
          <a:bodyPr/>
          <a:lstStyle/>
          <a:p>
            <a:fld id="{87152449-351A-4DCD-94D3-747C7C549C1A}" type="slidenum">
              <a:rPr lang="ru-RU" smtClean="0"/>
              <a:t>‹#›</a:t>
            </a:fld>
            <a:endParaRPr lang="ru-RU"/>
          </a:p>
        </p:txBody>
      </p:sp>
    </p:spTree>
    <p:extLst>
      <p:ext uri="{BB962C8B-B14F-4D97-AF65-F5344CB8AC3E}">
        <p14:creationId xmlns:p14="http://schemas.microsoft.com/office/powerpoint/2010/main" val="726490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D33287-3F8B-4402-A19C-40DF4BCC87D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30BE0183-69ED-41AF-ACD6-7521049866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3122E4DE-70B6-4E8B-8948-BCB9CF9819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6B25895-5B34-4B61-BA77-7E860F5481C9}"/>
              </a:ext>
            </a:extLst>
          </p:cNvPr>
          <p:cNvSpPr>
            <a:spLocks noGrp="1"/>
          </p:cNvSpPr>
          <p:nvPr>
            <p:ph type="dt" sz="half" idx="10"/>
          </p:nvPr>
        </p:nvSpPr>
        <p:spPr/>
        <p:txBody>
          <a:bodyPr/>
          <a:lstStyle/>
          <a:p>
            <a:fld id="{F9E3C431-7170-4F53-8FCC-EE73109E6774}" type="datetimeFigureOut">
              <a:rPr lang="ru-RU" smtClean="0"/>
              <a:t>06.12.2025</a:t>
            </a:fld>
            <a:endParaRPr lang="ru-RU"/>
          </a:p>
        </p:txBody>
      </p:sp>
      <p:sp>
        <p:nvSpPr>
          <p:cNvPr id="6" name="Нижний колонтитул 5">
            <a:extLst>
              <a:ext uri="{FF2B5EF4-FFF2-40B4-BE49-F238E27FC236}">
                <a16:creationId xmlns:a16="http://schemas.microsoft.com/office/drawing/2014/main" id="{A21733A5-D6DD-435B-AA3F-8D971D7967A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F00F2C7-A6CA-4E2E-8595-EE1F6ED2B125}"/>
              </a:ext>
            </a:extLst>
          </p:cNvPr>
          <p:cNvSpPr>
            <a:spLocks noGrp="1"/>
          </p:cNvSpPr>
          <p:nvPr>
            <p:ph type="sldNum" sz="quarter" idx="12"/>
          </p:nvPr>
        </p:nvSpPr>
        <p:spPr/>
        <p:txBody>
          <a:bodyPr/>
          <a:lstStyle/>
          <a:p>
            <a:fld id="{87152449-351A-4DCD-94D3-747C7C549C1A}" type="slidenum">
              <a:rPr lang="ru-RU" smtClean="0"/>
              <a:t>‹#›</a:t>
            </a:fld>
            <a:endParaRPr lang="ru-RU"/>
          </a:p>
        </p:txBody>
      </p:sp>
    </p:spTree>
    <p:extLst>
      <p:ext uri="{BB962C8B-B14F-4D97-AF65-F5344CB8AC3E}">
        <p14:creationId xmlns:p14="http://schemas.microsoft.com/office/powerpoint/2010/main" val="3929918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9BF618-14DF-447C-BEE2-AE24A1744A85}"/>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3241CB89-1B1A-4797-B859-745BCAA4A35D}"/>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23D8C62-D617-4ED2-903A-522886989BDC}"/>
              </a:ext>
            </a:extLst>
          </p:cNvPr>
          <p:cNvSpPr>
            <a:spLocks noGrp="1"/>
          </p:cNvSpPr>
          <p:nvPr>
            <p:ph type="dt" sz="half" idx="10"/>
          </p:nvPr>
        </p:nvSpPr>
        <p:spPr/>
        <p:txBody>
          <a:bodyPr/>
          <a:lstStyle/>
          <a:p>
            <a:fld id="{F9E3C431-7170-4F53-8FCC-EE73109E6774}" type="datetimeFigureOut">
              <a:rPr lang="ru-RU" smtClean="0"/>
              <a:t>06.12.2025</a:t>
            </a:fld>
            <a:endParaRPr lang="ru-RU"/>
          </a:p>
        </p:txBody>
      </p:sp>
      <p:sp>
        <p:nvSpPr>
          <p:cNvPr id="5" name="Нижний колонтитул 4">
            <a:extLst>
              <a:ext uri="{FF2B5EF4-FFF2-40B4-BE49-F238E27FC236}">
                <a16:creationId xmlns:a16="http://schemas.microsoft.com/office/drawing/2014/main" id="{3D95F48B-3B7C-4AFC-9D69-98987BE4DBE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501B18D-3F3D-468C-8FE0-482A6C71535A}"/>
              </a:ext>
            </a:extLst>
          </p:cNvPr>
          <p:cNvSpPr>
            <a:spLocks noGrp="1"/>
          </p:cNvSpPr>
          <p:nvPr>
            <p:ph type="sldNum" sz="quarter" idx="12"/>
          </p:nvPr>
        </p:nvSpPr>
        <p:spPr/>
        <p:txBody>
          <a:bodyPr/>
          <a:lstStyle/>
          <a:p>
            <a:fld id="{87152449-351A-4DCD-94D3-747C7C549C1A}" type="slidenum">
              <a:rPr lang="ru-RU" smtClean="0"/>
              <a:t>‹#›</a:t>
            </a:fld>
            <a:endParaRPr lang="ru-RU"/>
          </a:p>
        </p:txBody>
      </p:sp>
    </p:spTree>
    <p:extLst>
      <p:ext uri="{BB962C8B-B14F-4D97-AF65-F5344CB8AC3E}">
        <p14:creationId xmlns:p14="http://schemas.microsoft.com/office/powerpoint/2010/main" val="2291007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E74B0977-19F0-4781-9681-684E5DF7403C}"/>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8E6EAAD3-9C33-41C7-8F33-253FC1E8DBEE}"/>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B67E971-E934-460D-ACE0-B65382C49FCB}"/>
              </a:ext>
            </a:extLst>
          </p:cNvPr>
          <p:cNvSpPr>
            <a:spLocks noGrp="1"/>
          </p:cNvSpPr>
          <p:nvPr>
            <p:ph type="dt" sz="half" idx="10"/>
          </p:nvPr>
        </p:nvSpPr>
        <p:spPr/>
        <p:txBody>
          <a:bodyPr/>
          <a:lstStyle/>
          <a:p>
            <a:fld id="{F9E3C431-7170-4F53-8FCC-EE73109E6774}" type="datetimeFigureOut">
              <a:rPr lang="ru-RU" smtClean="0"/>
              <a:t>06.12.2025</a:t>
            </a:fld>
            <a:endParaRPr lang="ru-RU"/>
          </a:p>
        </p:txBody>
      </p:sp>
      <p:sp>
        <p:nvSpPr>
          <p:cNvPr id="5" name="Нижний колонтитул 4">
            <a:extLst>
              <a:ext uri="{FF2B5EF4-FFF2-40B4-BE49-F238E27FC236}">
                <a16:creationId xmlns:a16="http://schemas.microsoft.com/office/drawing/2014/main" id="{DB94039C-0E3A-4457-AD2F-62861D280B6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CC09D66-7B0F-49C2-AD66-FA4B5AFE6A52}"/>
              </a:ext>
            </a:extLst>
          </p:cNvPr>
          <p:cNvSpPr>
            <a:spLocks noGrp="1"/>
          </p:cNvSpPr>
          <p:nvPr>
            <p:ph type="sldNum" sz="quarter" idx="12"/>
          </p:nvPr>
        </p:nvSpPr>
        <p:spPr/>
        <p:txBody>
          <a:bodyPr/>
          <a:lstStyle/>
          <a:p>
            <a:fld id="{87152449-351A-4DCD-94D3-747C7C549C1A}" type="slidenum">
              <a:rPr lang="ru-RU" smtClean="0"/>
              <a:t>‹#›</a:t>
            </a:fld>
            <a:endParaRPr lang="ru-RU"/>
          </a:p>
        </p:txBody>
      </p:sp>
    </p:spTree>
    <p:extLst>
      <p:ext uri="{BB962C8B-B14F-4D97-AF65-F5344CB8AC3E}">
        <p14:creationId xmlns:p14="http://schemas.microsoft.com/office/powerpoint/2010/main" val="3028864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349D42-C3D0-4D9B-9A93-36C75A9CCF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51C36690-1444-4C36-BA04-E49FDA727D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0538692-D056-4024-8A73-1BC7825250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E3C431-7170-4F53-8FCC-EE73109E6774}" type="datetimeFigureOut">
              <a:rPr lang="ru-RU" smtClean="0"/>
              <a:t>06.12.2025</a:t>
            </a:fld>
            <a:endParaRPr lang="ru-RU"/>
          </a:p>
        </p:txBody>
      </p:sp>
      <p:sp>
        <p:nvSpPr>
          <p:cNvPr id="5" name="Нижний колонтитул 4">
            <a:extLst>
              <a:ext uri="{FF2B5EF4-FFF2-40B4-BE49-F238E27FC236}">
                <a16:creationId xmlns:a16="http://schemas.microsoft.com/office/drawing/2014/main" id="{81DA94A3-152A-4DF5-BDA1-18D81E928B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63BBB8E1-E27D-4CB2-A7AB-C03996CC75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152449-351A-4DCD-94D3-747C7C549C1A}" type="slidenum">
              <a:rPr lang="ru-RU" smtClean="0"/>
              <a:t>‹#›</a:t>
            </a:fld>
            <a:endParaRPr lang="ru-RU"/>
          </a:p>
        </p:txBody>
      </p:sp>
    </p:spTree>
    <p:extLst>
      <p:ext uri="{BB962C8B-B14F-4D97-AF65-F5344CB8AC3E}">
        <p14:creationId xmlns:p14="http://schemas.microsoft.com/office/powerpoint/2010/main" val="1626073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BF3D40-C8F4-4A34-BB0B-25BE65A6F43F}"/>
              </a:ext>
            </a:extLst>
          </p:cNvPr>
          <p:cNvSpPr>
            <a:spLocks noGrp="1"/>
          </p:cNvSpPr>
          <p:nvPr>
            <p:ph type="ctrTitle"/>
          </p:nvPr>
        </p:nvSpPr>
        <p:spPr/>
        <p:txBody>
          <a:bodyPr/>
          <a:lstStyle/>
          <a:p>
            <a:r>
              <a:rPr lang="ru-RU" dirty="0"/>
              <a:t>Задание 9</a:t>
            </a:r>
          </a:p>
        </p:txBody>
      </p:sp>
      <p:sp>
        <p:nvSpPr>
          <p:cNvPr id="3" name="Подзаголовок 2">
            <a:extLst>
              <a:ext uri="{FF2B5EF4-FFF2-40B4-BE49-F238E27FC236}">
                <a16:creationId xmlns:a16="http://schemas.microsoft.com/office/drawing/2014/main" id="{CCDC44E2-5ED9-40B1-89D4-588DA427FE97}"/>
              </a:ext>
            </a:extLst>
          </p:cNvPr>
          <p:cNvSpPr>
            <a:spLocks noGrp="1"/>
          </p:cNvSpPr>
          <p:nvPr>
            <p:ph type="subTitle" idx="1"/>
          </p:nvPr>
        </p:nvSpPr>
        <p:spPr/>
        <p:txBody>
          <a:bodyPr/>
          <a:lstStyle/>
          <a:p>
            <a:r>
              <a:rPr lang="ru-RU" dirty="0"/>
              <a:t>Статистический анализ большого объёма числовых данных</a:t>
            </a:r>
            <a:br>
              <a:rPr lang="ru-RU" dirty="0"/>
            </a:br>
            <a:r>
              <a:rPr lang="ru-RU" dirty="0"/>
              <a:t>в файле электронной таблицы</a:t>
            </a:r>
          </a:p>
        </p:txBody>
      </p:sp>
    </p:spTree>
    <p:extLst>
      <p:ext uri="{BB962C8B-B14F-4D97-AF65-F5344CB8AC3E}">
        <p14:creationId xmlns:p14="http://schemas.microsoft.com/office/powerpoint/2010/main" val="1928204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C8BA6A-2487-415D-95DB-402C7A38B48A}"/>
              </a:ext>
            </a:extLst>
          </p:cNvPr>
          <p:cNvSpPr>
            <a:spLocks noGrp="1"/>
          </p:cNvSpPr>
          <p:nvPr>
            <p:ph type="title"/>
          </p:nvPr>
        </p:nvSpPr>
        <p:spPr/>
        <p:txBody>
          <a:bodyPr/>
          <a:lstStyle/>
          <a:p>
            <a:r>
              <a:rPr lang="ru-RU" dirty="0"/>
              <a:t>Задача 1</a:t>
            </a:r>
          </a:p>
        </p:txBody>
      </p:sp>
      <p:sp>
        <p:nvSpPr>
          <p:cNvPr id="3" name="Объект 2">
            <a:extLst>
              <a:ext uri="{FF2B5EF4-FFF2-40B4-BE49-F238E27FC236}">
                <a16:creationId xmlns:a16="http://schemas.microsoft.com/office/drawing/2014/main" id="{B37114CF-881B-481D-8FFF-90C8BD01BB47}"/>
              </a:ext>
            </a:extLst>
          </p:cNvPr>
          <p:cNvSpPr>
            <a:spLocks noGrp="1"/>
          </p:cNvSpPr>
          <p:nvPr>
            <p:ph idx="1"/>
          </p:nvPr>
        </p:nvSpPr>
        <p:spPr/>
        <p:txBody>
          <a:bodyPr/>
          <a:lstStyle/>
          <a:p>
            <a:pPr marL="0" indent="0">
              <a:buNone/>
            </a:pPr>
            <a:r>
              <a:rPr lang="ru-RU" dirty="0"/>
              <a:t>Файл электронной таблицы содержит вещественные числа – результаты ежечасного измерения температуры воздуха на протяжении трёх месяцев. Найдите разность между максимальным значением температуры и её средним арифметическим значением. В ответе запишите только целую часть получившегося числа.</a:t>
            </a:r>
          </a:p>
        </p:txBody>
      </p:sp>
    </p:spTree>
    <p:extLst>
      <p:ext uri="{BB962C8B-B14F-4D97-AF65-F5344CB8AC3E}">
        <p14:creationId xmlns:p14="http://schemas.microsoft.com/office/powerpoint/2010/main" val="3272085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947777-9027-4EFE-8F1F-9461822FBE09}"/>
              </a:ext>
            </a:extLst>
          </p:cNvPr>
          <p:cNvSpPr>
            <a:spLocks noGrp="1"/>
          </p:cNvSpPr>
          <p:nvPr>
            <p:ph type="title"/>
          </p:nvPr>
        </p:nvSpPr>
        <p:spPr/>
        <p:txBody>
          <a:bodyPr/>
          <a:lstStyle/>
          <a:p>
            <a:r>
              <a:rPr lang="ru-RU" dirty="0"/>
              <a:t>Задача 2</a:t>
            </a:r>
          </a:p>
        </p:txBody>
      </p:sp>
      <p:sp>
        <p:nvSpPr>
          <p:cNvPr id="3" name="Объект 2">
            <a:extLst>
              <a:ext uri="{FF2B5EF4-FFF2-40B4-BE49-F238E27FC236}">
                <a16:creationId xmlns:a16="http://schemas.microsoft.com/office/drawing/2014/main" id="{1229F079-CE8E-4DE4-BA37-6E1E3B313AC7}"/>
              </a:ext>
            </a:extLst>
          </p:cNvPr>
          <p:cNvSpPr>
            <a:spLocks noGrp="1"/>
          </p:cNvSpPr>
          <p:nvPr>
            <p:ph idx="1"/>
          </p:nvPr>
        </p:nvSpPr>
        <p:spPr/>
        <p:txBody>
          <a:bodyPr/>
          <a:lstStyle/>
          <a:p>
            <a:pPr marL="0" indent="0">
              <a:buNone/>
            </a:pPr>
            <a:r>
              <a:rPr lang="ru-RU" dirty="0"/>
              <a:t>Электронная таблица содержит результаты метеорологических наблюдений. Найдите разницу между максимальной температурой в июле и минимальной температурой в октябре. В ответе запишите только целую часть полученного результата.</a:t>
            </a:r>
          </a:p>
        </p:txBody>
      </p:sp>
    </p:spTree>
    <p:extLst>
      <p:ext uri="{BB962C8B-B14F-4D97-AF65-F5344CB8AC3E}">
        <p14:creationId xmlns:p14="http://schemas.microsoft.com/office/powerpoint/2010/main" val="386447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A17A7E-F532-43A2-9D9D-5117D2F2D6E3}"/>
              </a:ext>
            </a:extLst>
          </p:cNvPr>
          <p:cNvSpPr>
            <a:spLocks noGrp="1"/>
          </p:cNvSpPr>
          <p:nvPr>
            <p:ph type="title"/>
          </p:nvPr>
        </p:nvSpPr>
        <p:spPr/>
        <p:txBody>
          <a:bodyPr/>
          <a:lstStyle/>
          <a:p>
            <a:r>
              <a:rPr lang="ru-RU" dirty="0"/>
              <a:t>Задача 3</a:t>
            </a:r>
          </a:p>
        </p:txBody>
      </p:sp>
      <p:sp>
        <p:nvSpPr>
          <p:cNvPr id="3" name="Объект 2">
            <a:extLst>
              <a:ext uri="{FF2B5EF4-FFF2-40B4-BE49-F238E27FC236}">
                <a16:creationId xmlns:a16="http://schemas.microsoft.com/office/drawing/2014/main" id="{6BD9CF01-10DC-416B-AB48-489644E2EDF7}"/>
              </a:ext>
            </a:extLst>
          </p:cNvPr>
          <p:cNvSpPr>
            <a:spLocks noGrp="1"/>
          </p:cNvSpPr>
          <p:nvPr>
            <p:ph idx="1"/>
          </p:nvPr>
        </p:nvSpPr>
        <p:spPr/>
        <p:txBody>
          <a:bodyPr/>
          <a:lstStyle/>
          <a:p>
            <a:pPr marL="0" indent="0">
              <a:buNone/>
            </a:pPr>
            <a:r>
              <a:rPr lang="ru-RU" dirty="0"/>
              <a:t>Файл электронной таблицы содержит вещественные числа – результаты ежечасного измерения температуры воздуха в течение трёх месяцев. Найдите разность между максимальной температурой воздуха с 1 апреля по 31 мая с 9:00 до 12:00 включительно и средним значением температуры воздуха в эти часы в апреле и мае, используя данные, представленные в таблице. В ответе запишите только целую часть получившегося числа.</a:t>
            </a:r>
          </a:p>
        </p:txBody>
      </p:sp>
    </p:spTree>
    <p:extLst>
      <p:ext uri="{BB962C8B-B14F-4D97-AF65-F5344CB8AC3E}">
        <p14:creationId xmlns:p14="http://schemas.microsoft.com/office/powerpoint/2010/main" val="2675946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E67CD36-F53C-4369-BF87-581E292CD7A2}"/>
              </a:ext>
            </a:extLst>
          </p:cNvPr>
          <p:cNvSpPr>
            <a:spLocks noGrp="1"/>
          </p:cNvSpPr>
          <p:nvPr>
            <p:ph type="title"/>
          </p:nvPr>
        </p:nvSpPr>
        <p:spPr/>
        <p:txBody>
          <a:bodyPr/>
          <a:lstStyle/>
          <a:p>
            <a:r>
              <a:rPr lang="ru-RU" dirty="0"/>
              <a:t>Задача 4</a:t>
            </a:r>
          </a:p>
        </p:txBody>
      </p:sp>
      <p:sp>
        <p:nvSpPr>
          <p:cNvPr id="3" name="Объект 2">
            <a:extLst>
              <a:ext uri="{FF2B5EF4-FFF2-40B4-BE49-F238E27FC236}">
                <a16:creationId xmlns:a16="http://schemas.microsoft.com/office/drawing/2014/main" id="{E3CA74FD-96D4-4E96-9947-FF406A3E4725}"/>
              </a:ext>
            </a:extLst>
          </p:cNvPr>
          <p:cNvSpPr>
            <a:spLocks noGrp="1"/>
          </p:cNvSpPr>
          <p:nvPr>
            <p:ph idx="1"/>
          </p:nvPr>
        </p:nvSpPr>
        <p:spPr/>
        <p:txBody>
          <a:bodyPr/>
          <a:lstStyle/>
          <a:p>
            <a:pPr marL="0" indent="0">
              <a:buNone/>
            </a:pPr>
            <a:r>
              <a:rPr lang="ru-RU" dirty="0"/>
              <a:t>Электронная таблица содержит результаты ежечасного измерения температуры воздуха на протяжении трёх месяцев. Определите, сколько раз за время наблюдений суточные колебания температуры (разность между максимальной и минимальной температурой в течение суток) превышали 17 градусов.</a:t>
            </a:r>
          </a:p>
        </p:txBody>
      </p:sp>
    </p:spTree>
    <p:extLst>
      <p:ext uri="{BB962C8B-B14F-4D97-AF65-F5344CB8AC3E}">
        <p14:creationId xmlns:p14="http://schemas.microsoft.com/office/powerpoint/2010/main" val="3689754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2DFABA-C6E3-41E3-9CA9-1D4BCE6FA172}"/>
              </a:ext>
            </a:extLst>
          </p:cNvPr>
          <p:cNvSpPr>
            <a:spLocks noGrp="1"/>
          </p:cNvSpPr>
          <p:nvPr>
            <p:ph type="title"/>
          </p:nvPr>
        </p:nvSpPr>
        <p:spPr/>
        <p:txBody>
          <a:bodyPr/>
          <a:lstStyle/>
          <a:p>
            <a:r>
              <a:rPr lang="ru-RU" dirty="0"/>
              <a:t>Задача 5</a:t>
            </a:r>
          </a:p>
        </p:txBody>
      </p:sp>
      <p:sp>
        <p:nvSpPr>
          <p:cNvPr id="3" name="Объект 2">
            <a:extLst>
              <a:ext uri="{FF2B5EF4-FFF2-40B4-BE49-F238E27FC236}">
                <a16:creationId xmlns:a16="http://schemas.microsoft.com/office/drawing/2014/main" id="{133860BB-161B-49AC-B48E-CD3A00CC4134}"/>
              </a:ext>
            </a:extLst>
          </p:cNvPr>
          <p:cNvSpPr>
            <a:spLocks noGrp="1"/>
          </p:cNvSpPr>
          <p:nvPr>
            <p:ph idx="1"/>
          </p:nvPr>
        </p:nvSpPr>
        <p:spPr>
          <a:xfrm>
            <a:off x="838200" y="1825625"/>
            <a:ext cx="10515600" cy="4351338"/>
          </a:xfrm>
        </p:spPr>
        <p:txBody>
          <a:bodyPr/>
          <a:lstStyle/>
          <a:p>
            <a:pPr marL="0" indent="0">
              <a:buNone/>
            </a:pPr>
            <a:r>
              <a:rPr lang="ru-RU" dirty="0"/>
              <a:t>Файл электронной таблицы содержит вещественные числа – результаты ежечасного измерения температуры воздуха в течение трёх месяцев. Найдите количество суток, в которых среднее значение температуры не превышало 20 °С.</a:t>
            </a:r>
          </a:p>
        </p:txBody>
      </p:sp>
    </p:spTree>
    <p:extLst>
      <p:ext uri="{BB962C8B-B14F-4D97-AF65-F5344CB8AC3E}">
        <p14:creationId xmlns:p14="http://schemas.microsoft.com/office/powerpoint/2010/main" val="239105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BC4410-F9A4-4011-BF86-0D6DAAE05B22}"/>
              </a:ext>
            </a:extLst>
          </p:cNvPr>
          <p:cNvSpPr>
            <a:spLocks noGrp="1"/>
          </p:cNvSpPr>
          <p:nvPr>
            <p:ph type="title"/>
          </p:nvPr>
        </p:nvSpPr>
        <p:spPr/>
        <p:txBody>
          <a:bodyPr/>
          <a:lstStyle/>
          <a:p>
            <a:r>
              <a:rPr lang="ru-RU" dirty="0"/>
              <a:t>Задача 6</a:t>
            </a:r>
          </a:p>
        </p:txBody>
      </p:sp>
      <p:sp>
        <p:nvSpPr>
          <p:cNvPr id="3" name="Объект 2">
            <a:extLst>
              <a:ext uri="{FF2B5EF4-FFF2-40B4-BE49-F238E27FC236}">
                <a16:creationId xmlns:a16="http://schemas.microsoft.com/office/drawing/2014/main" id="{BA18BF0D-9A62-41EF-9489-E47C63183406}"/>
              </a:ext>
            </a:extLst>
          </p:cNvPr>
          <p:cNvSpPr>
            <a:spLocks noGrp="1"/>
          </p:cNvSpPr>
          <p:nvPr>
            <p:ph idx="1"/>
          </p:nvPr>
        </p:nvSpPr>
        <p:spPr/>
        <p:txBody>
          <a:bodyPr/>
          <a:lstStyle/>
          <a:p>
            <a:pPr marL="0" indent="0">
              <a:buNone/>
            </a:pPr>
            <a:r>
              <a:rPr lang="ru-RU" dirty="0"/>
              <a:t>Электронная таблица содержит результаты ежечасного измерения температуры воздуха на протяжении трёх месяцев. Определите, сколько раз за время наблюдений температура в 20:00 была ниже среднесуточной температуры того же дня.</a:t>
            </a:r>
          </a:p>
        </p:txBody>
      </p:sp>
    </p:spTree>
    <p:extLst>
      <p:ext uri="{BB962C8B-B14F-4D97-AF65-F5344CB8AC3E}">
        <p14:creationId xmlns:p14="http://schemas.microsoft.com/office/powerpoint/2010/main" val="3143721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A18F25-3C5D-41F8-82C0-8EEEF31BDB2A}"/>
              </a:ext>
            </a:extLst>
          </p:cNvPr>
          <p:cNvSpPr>
            <a:spLocks noGrp="1"/>
          </p:cNvSpPr>
          <p:nvPr>
            <p:ph type="title"/>
          </p:nvPr>
        </p:nvSpPr>
        <p:spPr/>
        <p:txBody>
          <a:bodyPr/>
          <a:lstStyle/>
          <a:p>
            <a:r>
              <a:rPr lang="ru-RU" dirty="0"/>
              <a:t>Задача 7</a:t>
            </a:r>
          </a:p>
        </p:txBody>
      </p:sp>
      <p:sp>
        <p:nvSpPr>
          <p:cNvPr id="3" name="Объект 2">
            <a:extLst>
              <a:ext uri="{FF2B5EF4-FFF2-40B4-BE49-F238E27FC236}">
                <a16:creationId xmlns:a16="http://schemas.microsoft.com/office/drawing/2014/main" id="{8B97AC4F-47F2-498B-924C-61D199BE9D31}"/>
              </a:ext>
            </a:extLst>
          </p:cNvPr>
          <p:cNvSpPr>
            <a:spLocks noGrp="1"/>
          </p:cNvSpPr>
          <p:nvPr>
            <p:ph idx="1"/>
          </p:nvPr>
        </p:nvSpPr>
        <p:spPr/>
        <p:txBody>
          <a:bodyPr/>
          <a:lstStyle/>
          <a:p>
            <a:pPr marL="0" indent="0">
              <a:buNone/>
            </a:pPr>
            <a:r>
              <a:rPr lang="ru-RU" dirty="0"/>
              <a:t>В файле электронной таблицы каждая строка содержит три натуральных числа. Выясните, какое количество троек чисел может являться сторонами треугольника, то есть удовлетворяет неравенству треугольника. В ответе запишите только число.</a:t>
            </a:r>
          </a:p>
        </p:txBody>
      </p:sp>
    </p:spTree>
    <p:extLst>
      <p:ext uri="{BB962C8B-B14F-4D97-AF65-F5344CB8AC3E}">
        <p14:creationId xmlns:p14="http://schemas.microsoft.com/office/powerpoint/2010/main" val="1225592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8FDF1A-4967-4F5C-8EB7-BA965CF44E09}"/>
              </a:ext>
            </a:extLst>
          </p:cNvPr>
          <p:cNvSpPr>
            <a:spLocks noGrp="1"/>
          </p:cNvSpPr>
          <p:nvPr>
            <p:ph type="title"/>
          </p:nvPr>
        </p:nvSpPr>
        <p:spPr/>
        <p:txBody>
          <a:bodyPr/>
          <a:lstStyle/>
          <a:p>
            <a:r>
              <a:rPr lang="ru-RU" dirty="0"/>
              <a:t>Задача 8</a:t>
            </a:r>
          </a:p>
        </p:txBody>
      </p:sp>
      <p:sp>
        <p:nvSpPr>
          <p:cNvPr id="3" name="Объект 2">
            <a:extLst>
              <a:ext uri="{FF2B5EF4-FFF2-40B4-BE49-F238E27FC236}">
                <a16:creationId xmlns:a16="http://schemas.microsoft.com/office/drawing/2014/main" id="{0194E862-8ED9-4A11-843D-D2BBD2EA191C}"/>
              </a:ext>
            </a:extLst>
          </p:cNvPr>
          <p:cNvSpPr>
            <a:spLocks noGrp="1"/>
          </p:cNvSpPr>
          <p:nvPr>
            <p:ph idx="1"/>
          </p:nvPr>
        </p:nvSpPr>
        <p:spPr/>
        <p:txBody>
          <a:bodyPr/>
          <a:lstStyle/>
          <a:p>
            <a:pPr marL="0" indent="0">
              <a:buNone/>
            </a:pPr>
            <a:r>
              <a:rPr lang="ru-RU" dirty="0"/>
              <a:t>В файле электронной таблицы каждая строка содержит три натуральных числа. Определите, сколько среди заданных троек чисел таких, которые могут быть сторонами остроугольного треугольника.</a:t>
            </a:r>
          </a:p>
        </p:txBody>
      </p:sp>
    </p:spTree>
    <p:extLst>
      <p:ext uri="{BB962C8B-B14F-4D97-AF65-F5344CB8AC3E}">
        <p14:creationId xmlns:p14="http://schemas.microsoft.com/office/powerpoint/2010/main" val="3573999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8F5CB2-499D-49C7-8D5B-C910DC854708}"/>
              </a:ext>
            </a:extLst>
          </p:cNvPr>
          <p:cNvSpPr>
            <a:spLocks noGrp="1"/>
          </p:cNvSpPr>
          <p:nvPr>
            <p:ph type="title"/>
          </p:nvPr>
        </p:nvSpPr>
        <p:spPr/>
        <p:txBody>
          <a:bodyPr/>
          <a:lstStyle/>
          <a:p>
            <a:r>
              <a:rPr lang="ru-RU" dirty="0"/>
              <a:t>Задача 9</a:t>
            </a:r>
          </a:p>
        </p:txBody>
      </p:sp>
      <p:sp>
        <p:nvSpPr>
          <p:cNvPr id="3" name="Объект 2">
            <a:extLst>
              <a:ext uri="{FF2B5EF4-FFF2-40B4-BE49-F238E27FC236}">
                <a16:creationId xmlns:a16="http://schemas.microsoft.com/office/drawing/2014/main" id="{DBF170E8-D13D-4F37-A4D6-72519119E728}"/>
              </a:ext>
            </a:extLst>
          </p:cNvPr>
          <p:cNvSpPr>
            <a:spLocks noGrp="1"/>
          </p:cNvSpPr>
          <p:nvPr>
            <p:ph idx="1"/>
          </p:nvPr>
        </p:nvSpPr>
        <p:spPr/>
        <p:txBody>
          <a:bodyPr/>
          <a:lstStyle/>
          <a:p>
            <a:pPr marL="0" indent="0">
              <a:buNone/>
            </a:pPr>
            <a:r>
              <a:rPr lang="ru-RU" dirty="0"/>
              <a:t>В файле электронной таблицы каждая строка содержит пять натуральных чисел. Определите количество строк таблицы, в которых квадрат суммы максимального и минимального чисел в строке больше суммы квадратов трёх оставшихся.</a:t>
            </a:r>
          </a:p>
        </p:txBody>
      </p:sp>
    </p:spTree>
    <p:extLst>
      <p:ext uri="{BB962C8B-B14F-4D97-AF65-F5344CB8AC3E}">
        <p14:creationId xmlns:p14="http://schemas.microsoft.com/office/powerpoint/2010/main" val="1555972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140DCA-80F2-483F-8715-32896D033762}"/>
              </a:ext>
            </a:extLst>
          </p:cNvPr>
          <p:cNvSpPr>
            <a:spLocks noGrp="1"/>
          </p:cNvSpPr>
          <p:nvPr>
            <p:ph type="title"/>
          </p:nvPr>
        </p:nvSpPr>
        <p:spPr/>
        <p:txBody>
          <a:bodyPr/>
          <a:lstStyle/>
          <a:p>
            <a:r>
              <a:rPr lang="ru-RU" dirty="0"/>
              <a:t>Задача 10</a:t>
            </a:r>
          </a:p>
        </p:txBody>
      </p:sp>
      <p:sp>
        <p:nvSpPr>
          <p:cNvPr id="3" name="Объект 2">
            <a:extLst>
              <a:ext uri="{FF2B5EF4-FFF2-40B4-BE49-F238E27FC236}">
                <a16:creationId xmlns:a16="http://schemas.microsoft.com/office/drawing/2014/main" id="{01168C40-7595-4468-A9F2-1C04F0B9C3C2}"/>
              </a:ext>
            </a:extLst>
          </p:cNvPr>
          <p:cNvSpPr>
            <a:spLocks noGrp="1"/>
          </p:cNvSpPr>
          <p:nvPr>
            <p:ph idx="1"/>
          </p:nvPr>
        </p:nvSpPr>
        <p:spPr/>
        <p:txBody>
          <a:bodyPr/>
          <a:lstStyle/>
          <a:p>
            <a:pPr marL="0" indent="0">
              <a:buNone/>
            </a:pPr>
            <a:r>
              <a:rPr lang="ru-RU" dirty="0"/>
              <a:t>В файле электронной таблицы каждая строка содержит четыре натуральных числа. Определите количество строк таблицы, содержащих числа, для которых выполнено хотя бы одно из условий:</a:t>
            </a:r>
          </a:p>
          <a:p>
            <a:r>
              <a:rPr lang="ru-RU" dirty="0"/>
              <a:t>квадрат наибольшего из четырёх чисел больше произведения трёх других;</a:t>
            </a:r>
          </a:p>
          <a:p>
            <a:r>
              <a:rPr lang="ru-RU" dirty="0"/>
              <a:t>будучи упорядоченными, четыре числа образуют арифметическую прогрессию.</a:t>
            </a:r>
          </a:p>
          <a:p>
            <a:pPr marL="0" indent="0">
              <a:buNone/>
            </a:pPr>
            <a:r>
              <a:rPr lang="ru-RU" dirty="0"/>
              <a:t>В ответе запишите только это число.</a:t>
            </a:r>
          </a:p>
        </p:txBody>
      </p:sp>
    </p:spTree>
    <p:extLst>
      <p:ext uri="{BB962C8B-B14F-4D97-AF65-F5344CB8AC3E}">
        <p14:creationId xmlns:p14="http://schemas.microsoft.com/office/powerpoint/2010/main" val="3516395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9DD13ED-77EB-4BEF-BC8D-EC2C47CD0F3B}"/>
              </a:ext>
            </a:extLst>
          </p:cNvPr>
          <p:cNvSpPr>
            <a:spLocks noGrp="1"/>
          </p:cNvSpPr>
          <p:nvPr>
            <p:ph type="title"/>
          </p:nvPr>
        </p:nvSpPr>
        <p:spPr/>
        <p:txBody>
          <a:bodyPr/>
          <a:lstStyle/>
          <a:p>
            <a:r>
              <a:rPr lang="ru-RU" dirty="0"/>
              <a:t>Задача 11</a:t>
            </a:r>
          </a:p>
        </p:txBody>
      </p:sp>
      <p:sp>
        <p:nvSpPr>
          <p:cNvPr id="3" name="Объект 2">
            <a:extLst>
              <a:ext uri="{FF2B5EF4-FFF2-40B4-BE49-F238E27FC236}">
                <a16:creationId xmlns:a16="http://schemas.microsoft.com/office/drawing/2014/main" id="{7F9D6F2D-8789-408B-8AF6-90592F9310B1}"/>
              </a:ext>
            </a:extLst>
          </p:cNvPr>
          <p:cNvSpPr>
            <a:spLocks noGrp="1"/>
          </p:cNvSpPr>
          <p:nvPr>
            <p:ph idx="1"/>
          </p:nvPr>
        </p:nvSpPr>
        <p:spPr/>
        <p:txBody>
          <a:bodyPr/>
          <a:lstStyle/>
          <a:p>
            <a:pPr marL="0" indent="0">
              <a:buNone/>
            </a:pPr>
            <a:r>
              <a:rPr lang="ru-RU" dirty="0"/>
              <a:t>В файле электронной таблицы каждая строка содержит шесть натуральных чисел. Определите количество строк таблицы, содержащих числа, для которых одновременно выполнены все следующие условия:</a:t>
            </a:r>
          </a:p>
          <a:p>
            <a:r>
              <a:rPr lang="ru-RU" dirty="0"/>
              <a:t>все числа в строке различны;</a:t>
            </a:r>
          </a:p>
          <a:p>
            <a:r>
              <a:rPr lang="ru-RU" dirty="0"/>
              <a:t>среднее арифметическое наибольшего и наименьшего чисел в строке меньше среднего арифметического всех остальных чисел.</a:t>
            </a:r>
          </a:p>
          <a:p>
            <a:pPr marL="0" indent="0">
              <a:buNone/>
            </a:pPr>
            <a:r>
              <a:rPr lang="ru-RU" dirty="0"/>
              <a:t>В ответе запишите число – количество строк, удовлетворяющих заданным условиям.</a:t>
            </a:r>
          </a:p>
        </p:txBody>
      </p:sp>
    </p:spTree>
    <p:extLst>
      <p:ext uri="{BB962C8B-B14F-4D97-AF65-F5344CB8AC3E}">
        <p14:creationId xmlns:p14="http://schemas.microsoft.com/office/powerpoint/2010/main" val="2369783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5ACF11-34B5-4C40-AFD2-A661FC551097}"/>
              </a:ext>
            </a:extLst>
          </p:cNvPr>
          <p:cNvSpPr>
            <a:spLocks noGrp="1"/>
          </p:cNvSpPr>
          <p:nvPr>
            <p:ph type="title"/>
          </p:nvPr>
        </p:nvSpPr>
        <p:spPr/>
        <p:txBody>
          <a:bodyPr/>
          <a:lstStyle/>
          <a:p>
            <a:r>
              <a:rPr lang="ru-RU" dirty="0"/>
              <a:t>Задание 12</a:t>
            </a:r>
          </a:p>
        </p:txBody>
      </p:sp>
      <p:sp>
        <p:nvSpPr>
          <p:cNvPr id="3" name="Объект 2">
            <a:extLst>
              <a:ext uri="{FF2B5EF4-FFF2-40B4-BE49-F238E27FC236}">
                <a16:creationId xmlns:a16="http://schemas.microsoft.com/office/drawing/2014/main" id="{E09A81D4-B519-487C-A054-9D588A7ECE36}"/>
              </a:ext>
            </a:extLst>
          </p:cNvPr>
          <p:cNvSpPr>
            <a:spLocks noGrp="1"/>
          </p:cNvSpPr>
          <p:nvPr>
            <p:ph idx="1"/>
          </p:nvPr>
        </p:nvSpPr>
        <p:spPr/>
        <p:txBody>
          <a:bodyPr/>
          <a:lstStyle/>
          <a:p>
            <a:pPr marL="0" indent="0">
              <a:buNone/>
            </a:pPr>
            <a:r>
              <a:rPr lang="ru-RU" dirty="0"/>
              <a:t>В электронной таблице каждая строка содержит пять натуральных чисел. Определите, сколько в таблице строк, для которых выполнены следующие условия:</a:t>
            </a:r>
          </a:p>
          <a:p>
            <a:r>
              <a:rPr lang="ru-RU" dirty="0"/>
              <a:t>все числа в строке различны;</a:t>
            </a:r>
          </a:p>
          <a:p>
            <a:r>
              <a:rPr lang="ru-RU" dirty="0"/>
              <a:t>чётных чисел больше, чем нечётных;</a:t>
            </a:r>
          </a:p>
          <a:p>
            <a:r>
              <a:rPr lang="ru-RU" dirty="0"/>
              <a:t>сумма чётных чисел меньше суммы нечётных.</a:t>
            </a:r>
          </a:p>
          <a:p>
            <a:pPr marL="0" indent="0">
              <a:buNone/>
            </a:pPr>
            <a:r>
              <a:rPr lang="ru-RU" dirty="0"/>
              <a:t>В ответе запишите число – количество строк, для которых выполнены эти условия.</a:t>
            </a:r>
          </a:p>
        </p:txBody>
      </p:sp>
    </p:spTree>
    <p:extLst>
      <p:ext uri="{BB962C8B-B14F-4D97-AF65-F5344CB8AC3E}">
        <p14:creationId xmlns:p14="http://schemas.microsoft.com/office/powerpoint/2010/main" val="1844598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872660-2B63-461C-9A39-9021DFF03708}"/>
              </a:ext>
            </a:extLst>
          </p:cNvPr>
          <p:cNvSpPr>
            <a:spLocks noGrp="1"/>
          </p:cNvSpPr>
          <p:nvPr>
            <p:ph type="title"/>
          </p:nvPr>
        </p:nvSpPr>
        <p:spPr/>
        <p:txBody>
          <a:bodyPr/>
          <a:lstStyle/>
          <a:p>
            <a:r>
              <a:rPr lang="ru-RU" dirty="0"/>
              <a:t>Задание 13</a:t>
            </a:r>
          </a:p>
        </p:txBody>
      </p:sp>
      <p:sp>
        <p:nvSpPr>
          <p:cNvPr id="3" name="Объект 2">
            <a:extLst>
              <a:ext uri="{FF2B5EF4-FFF2-40B4-BE49-F238E27FC236}">
                <a16:creationId xmlns:a16="http://schemas.microsoft.com/office/drawing/2014/main" id="{4A4DD82A-787A-4E11-B72F-4B43DB8A2AA5}"/>
              </a:ext>
            </a:extLst>
          </p:cNvPr>
          <p:cNvSpPr>
            <a:spLocks noGrp="1"/>
          </p:cNvSpPr>
          <p:nvPr>
            <p:ph idx="1"/>
          </p:nvPr>
        </p:nvSpPr>
        <p:spPr/>
        <p:txBody>
          <a:bodyPr/>
          <a:lstStyle/>
          <a:p>
            <a:pPr marL="0" indent="0">
              <a:buNone/>
            </a:pPr>
            <a:r>
              <a:rPr lang="ru-RU" dirty="0"/>
              <a:t>В файле электронной таблицы каждая строка содержит семь натуральных чисел. Ваша задача состоит в том, чтобы посчитать количество таких строк, в которых два числа повторяются по два раза, а три других различны и среднее арифметическое неповторяющихся чисел больше среднего арифметического повторяющихся.</a:t>
            </a:r>
          </a:p>
        </p:txBody>
      </p:sp>
    </p:spTree>
    <p:extLst>
      <p:ext uri="{BB962C8B-B14F-4D97-AF65-F5344CB8AC3E}">
        <p14:creationId xmlns:p14="http://schemas.microsoft.com/office/powerpoint/2010/main" val="2447568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E076C5-BB8B-46F0-AC5E-281398C23FAF}"/>
              </a:ext>
            </a:extLst>
          </p:cNvPr>
          <p:cNvSpPr>
            <a:spLocks noGrp="1"/>
          </p:cNvSpPr>
          <p:nvPr>
            <p:ph type="title"/>
          </p:nvPr>
        </p:nvSpPr>
        <p:spPr/>
        <p:txBody>
          <a:bodyPr/>
          <a:lstStyle/>
          <a:p>
            <a:r>
              <a:rPr lang="ru-RU" dirty="0"/>
              <a:t>Задача 14</a:t>
            </a:r>
          </a:p>
        </p:txBody>
      </p:sp>
      <p:sp>
        <p:nvSpPr>
          <p:cNvPr id="3" name="Объект 2">
            <a:extLst>
              <a:ext uri="{FF2B5EF4-FFF2-40B4-BE49-F238E27FC236}">
                <a16:creationId xmlns:a16="http://schemas.microsoft.com/office/drawing/2014/main" id="{BCE9B8E7-CE6A-4A1F-BBED-6332BE0DBD58}"/>
              </a:ext>
            </a:extLst>
          </p:cNvPr>
          <p:cNvSpPr>
            <a:spLocks noGrp="1"/>
          </p:cNvSpPr>
          <p:nvPr>
            <p:ph idx="1"/>
          </p:nvPr>
        </p:nvSpPr>
        <p:spPr/>
        <p:txBody>
          <a:bodyPr/>
          <a:lstStyle/>
          <a:p>
            <a:pPr marL="0" indent="0">
              <a:buNone/>
            </a:pPr>
            <a:r>
              <a:rPr lang="ru-RU" dirty="0"/>
              <a:t>В файле электронной таблицы каждая строка содержит семь натуральных чисел. Определите количество строк таблицы, содержащих числа, для </a:t>
            </a:r>
            <a:r>
              <a:rPr lang="ru-RU" dirty="0" smtClean="0"/>
              <a:t>которых </a:t>
            </a:r>
            <a:r>
              <a:rPr lang="ru-RU" dirty="0"/>
              <a:t>выполнены оба условия:</a:t>
            </a:r>
          </a:p>
          <a:p>
            <a:r>
              <a:rPr lang="ru-RU" dirty="0"/>
              <a:t>в строке есть одно число, которое повторяется трижды, остальные четыре числа различны;</a:t>
            </a:r>
          </a:p>
          <a:p>
            <a:r>
              <a:rPr lang="ru-RU" dirty="0"/>
              <a:t>среднее арифметическое неповторяющихся чисел строки не больше повторяющегося числа.</a:t>
            </a:r>
          </a:p>
          <a:p>
            <a:pPr marL="0" indent="0">
              <a:buNone/>
            </a:pPr>
            <a:r>
              <a:rPr lang="ru-RU" dirty="0"/>
              <a:t>В ответе запишите только число.</a:t>
            </a:r>
          </a:p>
        </p:txBody>
      </p:sp>
    </p:spTree>
    <p:extLst>
      <p:ext uri="{BB962C8B-B14F-4D97-AF65-F5344CB8AC3E}">
        <p14:creationId xmlns:p14="http://schemas.microsoft.com/office/powerpoint/2010/main" val="1393723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E076C5-BB8B-46F0-AC5E-281398C23FAF}"/>
              </a:ext>
            </a:extLst>
          </p:cNvPr>
          <p:cNvSpPr>
            <a:spLocks noGrp="1"/>
          </p:cNvSpPr>
          <p:nvPr>
            <p:ph type="title"/>
          </p:nvPr>
        </p:nvSpPr>
        <p:spPr/>
        <p:txBody>
          <a:bodyPr/>
          <a:lstStyle/>
          <a:p>
            <a:r>
              <a:rPr lang="ru-RU" dirty="0"/>
              <a:t>Задача </a:t>
            </a:r>
            <a:r>
              <a:rPr lang="ru-RU" dirty="0" smtClean="0"/>
              <a:t>14</a:t>
            </a:r>
            <a:r>
              <a:rPr lang="en-US" dirty="0" smtClean="0"/>
              <a:t>-A</a:t>
            </a:r>
            <a:endParaRPr lang="ru-RU" dirty="0"/>
          </a:p>
        </p:txBody>
      </p:sp>
      <p:sp>
        <p:nvSpPr>
          <p:cNvPr id="3" name="Объект 2">
            <a:extLst>
              <a:ext uri="{FF2B5EF4-FFF2-40B4-BE49-F238E27FC236}">
                <a16:creationId xmlns:a16="http://schemas.microsoft.com/office/drawing/2014/main" id="{BCE9B8E7-CE6A-4A1F-BBED-6332BE0DBD58}"/>
              </a:ext>
            </a:extLst>
          </p:cNvPr>
          <p:cNvSpPr>
            <a:spLocks noGrp="1"/>
          </p:cNvSpPr>
          <p:nvPr>
            <p:ph idx="1"/>
          </p:nvPr>
        </p:nvSpPr>
        <p:spPr/>
        <p:txBody>
          <a:bodyPr/>
          <a:lstStyle/>
          <a:p>
            <a:pPr marL="0" indent="0">
              <a:buNone/>
            </a:pPr>
            <a:r>
              <a:rPr lang="ru-RU" dirty="0"/>
              <a:t>В файле электронной таблицы каждая строка содержит шесть натуральных чисел. Определите количество строк таблицы, содержащих числа, для </a:t>
            </a:r>
            <a:r>
              <a:rPr lang="ru-RU" dirty="0" smtClean="0"/>
              <a:t>которых </a:t>
            </a:r>
            <a:r>
              <a:rPr lang="ru-RU" dirty="0"/>
              <a:t>выполнены оба условия:</a:t>
            </a:r>
            <a:endParaRPr lang="ru-RU" dirty="0"/>
          </a:p>
          <a:p>
            <a:r>
              <a:rPr lang="ru-RU" dirty="0"/>
              <a:t>в строке есть как повторяющиеся, так и неповторяющиеся числа;</a:t>
            </a:r>
            <a:endParaRPr lang="ru-RU" dirty="0"/>
          </a:p>
          <a:p>
            <a:r>
              <a:rPr lang="ru-RU" dirty="0"/>
              <a:t>среднее арифметическое всех неповторяющихся чисел строки </a:t>
            </a:r>
            <a:r>
              <a:rPr lang="ru-RU" dirty="0" smtClean="0"/>
              <a:t>меньше</a:t>
            </a:r>
            <a:r>
              <a:rPr lang="en-US" dirty="0" smtClean="0"/>
              <a:t> </a:t>
            </a:r>
            <a:r>
              <a:rPr lang="ru-RU" dirty="0"/>
              <a:t>среднего арифметического всех её повторяющихся чисел.</a:t>
            </a:r>
            <a:endParaRPr lang="ru-RU" dirty="0"/>
          </a:p>
          <a:p>
            <a:pPr marL="0" indent="0">
              <a:buNone/>
            </a:pPr>
            <a:r>
              <a:rPr lang="ru-RU" dirty="0"/>
              <a:t>При вычислении средних значений каждое число учитывается столько раз, </a:t>
            </a:r>
            <a:r>
              <a:rPr lang="ru-RU" dirty="0" smtClean="0"/>
              <a:t>сколько</a:t>
            </a:r>
            <a:r>
              <a:rPr lang="en-US" dirty="0" smtClean="0"/>
              <a:t> </a:t>
            </a:r>
            <a:r>
              <a:rPr lang="ru-RU" dirty="0"/>
              <a:t>оно встречается в строке. В ответе запишите число — количество строк</a:t>
            </a:r>
            <a:r>
              <a:rPr lang="ru-RU" dirty="0" smtClean="0"/>
              <a:t>,</a:t>
            </a:r>
            <a:r>
              <a:rPr lang="en-US" dirty="0" smtClean="0"/>
              <a:t> </a:t>
            </a:r>
            <a:r>
              <a:rPr lang="ru-RU" dirty="0"/>
              <a:t>для которых выполнены эти условия.</a:t>
            </a:r>
            <a:endParaRPr lang="ru-RU" dirty="0"/>
          </a:p>
        </p:txBody>
      </p:sp>
    </p:spTree>
    <p:extLst>
      <p:ext uri="{BB962C8B-B14F-4D97-AF65-F5344CB8AC3E}">
        <p14:creationId xmlns:p14="http://schemas.microsoft.com/office/powerpoint/2010/main" val="2554783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D87039-2BF3-4BF1-A36F-0E3F9FBF17A9}"/>
              </a:ext>
            </a:extLst>
          </p:cNvPr>
          <p:cNvSpPr>
            <a:spLocks noGrp="1"/>
          </p:cNvSpPr>
          <p:nvPr>
            <p:ph type="title"/>
          </p:nvPr>
        </p:nvSpPr>
        <p:spPr/>
        <p:txBody>
          <a:bodyPr/>
          <a:lstStyle/>
          <a:p>
            <a:r>
              <a:rPr lang="ru-RU" dirty="0"/>
              <a:t>Задача 15</a:t>
            </a:r>
          </a:p>
        </p:txBody>
      </p:sp>
      <p:sp>
        <p:nvSpPr>
          <p:cNvPr id="3" name="Объект 2">
            <a:extLst>
              <a:ext uri="{FF2B5EF4-FFF2-40B4-BE49-F238E27FC236}">
                <a16:creationId xmlns:a16="http://schemas.microsoft.com/office/drawing/2014/main" id="{FE91202C-01B7-4D66-B6E8-AAB452966B41}"/>
              </a:ext>
            </a:extLst>
          </p:cNvPr>
          <p:cNvSpPr>
            <a:spLocks noGrp="1"/>
          </p:cNvSpPr>
          <p:nvPr>
            <p:ph idx="1"/>
          </p:nvPr>
        </p:nvSpPr>
        <p:spPr/>
        <p:txBody>
          <a:bodyPr/>
          <a:lstStyle/>
          <a:p>
            <a:pPr marL="0" indent="0">
              <a:buNone/>
            </a:pPr>
            <a:r>
              <a:rPr lang="ru-RU" dirty="0"/>
              <a:t>Файл электронной таблицы содержит результаты ежечасного измерения температуры воздуха на протяжении трёх месяцев. Сколько раз встречалась температура, которая равна минимальному значению?</a:t>
            </a:r>
          </a:p>
        </p:txBody>
      </p:sp>
    </p:spTree>
    <p:extLst>
      <p:ext uri="{BB962C8B-B14F-4D97-AF65-F5344CB8AC3E}">
        <p14:creationId xmlns:p14="http://schemas.microsoft.com/office/powerpoint/2010/main" val="2612326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F4CD52-352D-4F37-85F0-4C18D8E46552}"/>
              </a:ext>
            </a:extLst>
          </p:cNvPr>
          <p:cNvSpPr>
            <a:spLocks noGrp="1"/>
          </p:cNvSpPr>
          <p:nvPr>
            <p:ph type="title"/>
          </p:nvPr>
        </p:nvSpPr>
        <p:spPr/>
        <p:txBody>
          <a:bodyPr/>
          <a:lstStyle/>
          <a:p>
            <a:r>
              <a:rPr lang="ru-RU" dirty="0"/>
              <a:t>Задача 16</a:t>
            </a:r>
          </a:p>
        </p:txBody>
      </p:sp>
      <p:sp>
        <p:nvSpPr>
          <p:cNvPr id="3" name="Объект 2">
            <a:extLst>
              <a:ext uri="{FF2B5EF4-FFF2-40B4-BE49-F238E27FC236}">
                <a16:creationId xmlns:a16="http://schemas.microsoft.com/office/drawing/2014/main" id="{1BFDF3FC-615D-452F-85DE-AF8A1122BE79}"/>
              </a:ext>
            </a:extLst>
          </p:cNvPr>
          <p:cNvSpPr>
            <a:spLocks noGrp="1"/>
          </p:cNvSpPr>
          <p:nvPr>
            <p:ph idx="1"/>
          </p:nvPr>
        </p:nvSpPr>
        <p:spPr/>
        <p:txBody>
          <a:bodyPr/>
          <a:lstStyle/>
          <a:p>
            <a:pPr marL="0" indent="0">
              <a:buNone/>
            </a:pPr>
            <a:r>
              <a:rPr lang="ru-RU" dirty="0"/>
              <a:t>Файл электронной таблицы содержит результаты ежечасного измерения температуры воздуха на протяжении трёх месяцев. Сколько раз встречалась температура, выше округленного до десятых среднего арифметического значения всех чисел в таблице?</a:t>
            </a:r>
          </a:p>
        </p:txBody>
      </p:sp>
    </p:spTree>
    <p:extLst>
      <p:ext uri="{BB962C8B-B14F-4D97-AF65-F5344CB8AC3E}">
        <p14:creationId xmlns:p14="http://schemas.microsoft.com/office/powerpoint/2010/main" val="6387114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EF885F-C158-4CBF-AA03-8BE82D25FFB8}"/>
              </a:ext>
            </a:extLst>
          </p:cNvPr>
          <p:cNvSpPr>
            <a:spLocks noGrp="1"/>
          </p:cNvSpPr>
          <p:nvPr>
            <p:ph type="title"/>
          </p:nvPr>
        </p:nvSpPr>
        <p:spPr/>
        <p:txBody>
          <a:bodyPr/>
          <a:lstStyle/>
          <a:p>
            <a:r>
              <a:rPr lang="ru-RU" dirty="0"/>
              <a:t>Задача 17</a:t>
            </a:r>
          </a:p>
        </p:txBody>
      </p:sp>
      <p:sp>
        <p:nvSpPr>
          <p:cNvPr id="3" name="Объект 2">
            <a:extLst>
              <a:ext uri="{FF2B5EF4-FFF2-40B4-BE49-F238E27FC236}">
                <a16:creationId xmlns:a16="http://schemas.microsoft.com/office/drawing/2014/main" id="{1F3914C3-1634-4B65-B151-EED5FF641320}"/>
              </a:ext>
            </a:extLst>
          </p:cNvPr>
          <p:cNvSpPr>
            <a:spLocks noGrp="1"/>
          </p:cNvSpPr>
          <p:nvPr>
            <p:ph idx="1"/>
          </p:nvPr>
        </p:nvSpPr>
        <p:spPr/>
        <p:txBody>
          <a:bodyPr/>
          <a:lstStyle/>
          <a:p>
            <a:pPr marL="0" indent="0">
              <a:buNone/>
            </a:pPr>
            <a:r>
              <a:rPr lang="ru-RU" dirty="0"/>
              <a:t>Файл электронной таблицы содержит результаты ежечасного измерения температуры воздуха на протяжении трёх месяцев. Сколько раз встречалась температура, которая была ниже половины от максимального значения?</a:t>
            </a:r>
          </a:p>
        </p:txBody>
      </p:sp>
    </p:spTree>
    <p:extLst>
      <p:ext uri="{BB962C8B-B14F-4D97-AF65-F5344CB8AC3E}">
        <p14:creationId xmlns:p14="http://schemas.microsoft.com/office/powerpoint/2010/main" val="1795172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E309D7-ACA4-4017-99AC-1DC05747E1D9}"/>
              </a:ext>
            </a:extLst>
          </p:cNvPr>
          <p:cNvSpPr>
            <a:spLocks noGrp="1"/>
          </p:cNvSpPr>
          <p:nvPr>
            <p:ph type="title"/>
          </p:nvPr>
        </p:nvSpPr>
        <p:spPr/>
        <p:txBody>
          <a:bodyPr/>
          <a:lstStyle/>
          <a:p>
            <a:r>
              <a:rPr lang="ru-RU" dirty="0"/>
              <a:t>Задача 18</a:t>
            </a:r>
          </a:p>
        </p:txBody>
      </p:sp>
      <p:sp>
        <p:nvSpPr>
          <p:cNvPr id="3" name="Объект 2">
            <a:extLst>
              <a:ext uri="{FF2B5EF4-FFF2-40B4-BE49-F238E27FC236}">
                <a16:creationId xmlns:a16="http://schemas.microsoft.com/office/drawing/2014/main" id="{53CE0393-6BF5-4891-A0F7-8B7F17B149F3}"/>
              </a:ext>
            </a:extLst>
          </p:cNvPr>
          <p:cNvSpPr>
            <a:spLocks noGrp="1"/>
          </p:cNvSpPr>
          <p:nvPr>
            <p:ph idx="1"/>
          </p:nvPr>
        </p:nvSpPr>
        <p:spPr/>
        <p:txBody>
          <a:bodyPr/>
          <a:lstStyle/>
          <a:p>
            <a:pPr marL="0" indent="0">
              <a:buNone/>
            </a:pPr>
            <a:r>
              <a:rPr lang="ru-RU" dirty="0"/>
              <a:t>Файл электронной таблицы содержит результаты ежечасного измерения температуры воздуха на протяжении трёх месяцев. Сколько раз встречалась температура, которая была выше половины среднего арифметического значения, округленного до десятых, но ниже половины от максимального значения?</a:t>
            </a:r>
          </a:p>
        </p:txBody>
      </p:sp>
    </p:spTree>
    <p:extLst>
      <p:ext uri="{BB962C8B-B14F-4D97-AF65-F5344CB8AC3E}">
        <p14:creationId xmlns:p14="http://schemas.microsoft.com/office/powerpoint/2010/main" val="362099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F35FA8-E0F6-4149-B254-D8F8109E7E27}"/>
              </a:ext>
            </a:extLst>
          </p:cNvPr>
          <p:cNvSpPr>
            <a:spLocks noGrp="1"/>
          </p:cNvSpPr>
          <p:nvPr>
            <p:ph type="title"/>
          </p:nvPr>
        </p:nvSpPr>
        <p:spPr/>
        <p:txBody>
          <a:bodyPr/>
          <a:lstStyle/>
          <a:p>
            <a:r>
              <a:rPr lang="ru-RU" dirty="0"/>
              <a:t>Задача 19</a:t>
            </a:r>
          </a:p>
        </p:txBody>
      </p:sp>
      <p:sp>
        <p:nvSpPr>
          <p:cNvPr id="3" name="Объект 2">
            <a:extLst>
              <a:ext uri="{FF2B5EF4-FFF2-40B4-BE49-F238E27FC236}">
                <a16:creationId xmlns:a16="http://schemas.microsoft.com/office/drawing/2014/main" id="{1049FB4A-6108-4601-A30C-BABE0DDA5889}"/>
              </a:ext>
            </a:extLst>
          </p:cNvPr>
          <p:cNvSpPr>
            <a:spLocks noGrp="1"/>
          </p:cNvSpPr>
          <p:nvPr>
            <p:ph idx="1"/>
          </p:nvPr>
        </p:nvSpPr>
        <p:spPr/>
        <p:txBody>
          <a:bodyPr/>
          <a:lstStyle/>
          <a:p>
            <a:pPr marL="0" indent="0">
              <a:buNone/>
            </a:pPr>
            <a:r>
              <a:rPr lang="ru-RU" dirty="0"/>
              <a:t>Файл электронной таблицы содержит результаты ежечасного измерения температуры воздуха на протяжении трёх месяцев. Определите, сколько раз за время измерений результат очередного измерения оказывался выше результата предыдущего на 2 и более градусов.</a:t>
            </a:r>
          </a:p>
        </p:txBody>
      </p:sp>
    </p:spTree>
    <p:extLst>
      <p:ext uri="{BB962C8B-B14F-4D97-AF65-F5344CB8AC3E}">
        <p14:creationId xmlns:p14="http://schemas.microsoft.com/office/powerpoint/2010/main" val="3318580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DD78C7-CB21-4C27-A96D-75B14BA6F6CF}"/>
              </a:ext>
            </a:extLst>
          </p:cNvPr>
          <p:cNvSpPr>
            <a:spLocks noGrp="1"/>
          </p:cNvSpPr>
          <p:nvPr>
            <p:ph type="title"/>
          </p:nvPr>
        </p:nvSpPr>
        <p:spPr/>
        <p:txBody>
          <a:bodyPr/>
          <a:lstStyle/>
          <a:p>
            <a:r>
              <a:rPr lang="ru-RU" dirty="0"/>
              <a:t>Задача 20</a:t>
            </a:r>
          </a:p>
        </p:txBody>
      </p:sp>
      <p:sp>
        <p:nvSpPr>
          <p:cNvPr id="3" name="Объект 2">
            <a:extLst>
              <a:ext uri="{FF2B5EF4-FFF2-40B4-BE49-F238E27FC236}">
                <a16:creationId xmlns:a16="http://schemas.microsoft.com/office/drawing/2014/main" id="{1A874785-BBB8-4817-835C-F54C86462DE5}"/>
              </a:ext>
            </a:extLst>
          </p:cNvPr>
          <p:cNvSpPr>
            <a:spLocks noGrp="1"/>
          </p:cNvSpPr>
          <p:nvPr>
            <p:ph idx="1"/>
          </p:nvPr>
        </p:nvSpPr>
        <p:spPr/>
        <p:txBody>
          <a:bodyPr/>
          <a:lstStyle/>
          <a:p>
            <a:pPr marL="0" indent="0">
              <a:buNone/>
            </a:pPr>
            <a:r>
              <a:rPr lang="ru-RU" dirty="0"/>
              <a:t>Электронная таблица содержит результаты ежечасного измерения температуры воздуха на протяжении трёх месяцев. Определите величину самого большого повышения температуры между двумя соседними измерениями. Ответ округлите до целого числа. Например, с 3:00 до 4:00 1 апреля температура повысилась на 1,4 градуса. Если это повышение окажется максимальным, в ответе надо записать 1.</a:t>
            </a:r>
          </a:p>
        </p:txBody>
      </p:sp>
    </p:spTree>
    <p:extLst>
      <p:ext uri="{BB962C8B-B14F-4D97-AF65-F5344CB8AC3E}">
        <p14:creationId xmlns:p14="http://schemas.microsoft.com/office/powerpoint/2010/main" val="317630203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944</Words>
  <Application>Microsoft Office PowerPoint</Application>
  <PresentationFormat>Широкоэкранный</PresentationFormat>
  <Paragraphs>60</Paragraphs>
  <Slides>22</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22</vt:i4>
      </vt:variant>
    </vt:vector>
  </HeadingPairs>
  <TitlesOfParts>
    <vt:vector size="26" baseType="lpstr">
      <vt:lpstr>Arial</vt:lpstr>
      <vt:lpstr>Calibri</vt:lpstr>
      <vt:lpstr>Calibri Light</vt:lpstr>
      <vt:lpstr>Тема Office</vt:lpstr>
      <vt:lpstr>Задание 9</vt:lpstr>
      <vt:lpstr>Задача 1</vt:lpstr>
      <vt:lpstr>Задача 2</vt:lpstr>
      <vt:lpstr>Задача 3</vt:lpstr>
      <vt:lpstr>Задача 4</vt:lpstr>
      <vt:lpstr>Задача 5</vt:lpstr>
      <vt:lpstr>Задача 6</vt:lpstr>
      <vt:lpstr>Задача 7</vt:lpstr>
      <vt:lpstr>Задача 8</vt:lpstr>
      <vt:lpstr>Задача 9</vt:lpstr>
      <vt:lpstr>Задача 10</vt:lpstr>
      <vt:lpstr>Задача 11</vt:lpstr>
      <vt:lpstr>Задание 12</vt:lpstr>
      <vt:lpstr>Задание 13</vt:lpstr>
      <vt:lpstr>Задача 14</vt:lpstr>
      <vt:lpstr>Задача 14-A</vt:lpstr>
      <vt:lpstr>Задача 15</vt:lpstr>
      <vt:lpstr>Задача 16</vt:lpstr>
      <vt:lpstr>Задача 17</vt:lpstr>
      <vt:lpstr>Задача 18</vt:lpstr>
      <vt:lpstr>Задача 19</vt:lpstr>
      <vt:lpstr>Задача 20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Задание 9</dc:title>
  <dc:creator>Олег Полковский</dc:creator>
  <cp:lastModifiedBy>Олег А. Полковский</cp:lastModifiedBy>
  <cp:revision>14</cp:revision>
  <dcterms:created xsi:type="dcterms:W3CDTF">2024-12-14T05:33:23Z</dcterms:created>
  <dcterms:modified xsi:type="dcterms:W3CDTF">2025-12-06T10:40:04Z</dcterms:modified>
</cp:coreProperties>
</file>